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ist" panose="020B0604020202020204" charset="-52"/>
      <p:regular r:id="rId17"/>
    </p:embeddedFont>
    <p:embeddedFont>
      <p:font typeface="Geist Bold" panose="020B0604020202020204" charset="-5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EEF"/>
    <a:srgbClr val="2048BA"/>
    <a:srgbClr val="7C95CC"/>
    <a:srgbClr val="5F8AE9"/>
    <a:srgbClr val="558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63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118717"/>
            <a:ext cx="6296860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Основы работы в терминале Linux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41700"/>
            <a:ext cx="6296860" cy="860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Терминал (CLI) — основной интерфейс системного администратора. Понимание оболочки, навигации по файловой системе и базовых операций с файлами — это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фундамент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без которого невозможна эффективная автоматизация, диагностика и управление инфраструктурой.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487763"/>
            <a:ext cx="2725173" cy="251420"/>
          </a:xfrm>
          <a:prstGeom prst="roundRect">
            <a:avLst>
              <a:gd name="adj" fmla="val 22103"/>
            </a:avLst>
          </a:prstGeom>
          <a:solidFill>
            <a:srgbClr val="00194D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4537373"/>
            <a:ext cx="313632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ДЛЯ СИСТЕМНЫХ АДМИНИСТРАТОРОВ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69295" y="4487763"/>
            <a:ext cx="1360453" cy="251420"/>
          </a:xfrm>
          <a:prstGeom prst="roundRect">
            <a:avLst>
              <a:gd name="adj" fmla="val 22103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8512" y="4537373"/>
            <a:ext cx="177160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LINUX · CLI · SHELL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08" y="414884"/>
            <a:ext cx="9753356" cy="54864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454819"/>
            <a:ext cx="1086874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Терминал, консоль, shell: в чём разница?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06252"/>
            <a:ext cx="11478330" cy="8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Три понятия, которые часто путают. Понимание их различий — первый шаг к уверенной работе в CLI.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701161" y="5725716"/>
            <a:ext cx="5452628" cy="962422"/>
          </a:xfrm>
          <a:prstGeom prst="roundRect">
            <a:avLst>
              <a:gd name="adj" fmla="val 6187"/>
            </a:avLst>
          </a:prstGeom>
          <a:solidFill>
            <a:srgbClr val="6296FF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83808" y="5766991"/>
            <a:ext cx="5287334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16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Строка приглашения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8513" y="6062754"/>
            <a:ext cx="5287334" cy="46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1000"/>
              </a:lnSpc>
              <a:spcAft>
                <a:spcPts val="250"/>
              </a:spcAft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5589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user@host:~/project$</a:t>
            </a:r>
            <a:endParaRPr lang="en-US" sz="100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5589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домашняя директория (сокращение). Символ </a:t>
            </a:r>
            <a:r>
              <a:rPr lang="en-US" sz="1000" dirty="0">
                <a:solidFill>
                  <a:srgbClr val="000000"/>
                </a:solidFill>
                <a:highlight>
                  <a:srgbClr val="5589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обычный пользователь, </a:t>
            </a:r>
            <a:r>
              <a:rPr lang="en-US" sz="1000" dirty="0">
                <a:solidFill>
                  <a:srgbClr val="000000"/>
                </a:solidFill>
                <a:highlight>
                  <a:srgbClr val="5589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root. Это </a:t>
            </a:r>
            <a:r>
              <a:rPr lang="en-US" sz="10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критично</a:t>
            </a: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для безопасности.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2217" y="5725716"/>
            <a:ext cx="5333569" cy="962422"/>
          </a:xfrm>
          <a:prstGeom prst="roundRect">
            <a:avLst>
              <a:gd name="adj" fmla="val 5005"/>
            </a:avLst>
          </a:prstGeom>
          <a:solidFill>
            <a:srgbClr val="1D232D"/>
          </a:solidFill>
          <a:ln/>
        </p:spPr>
      </p:sp>
      <p:sp>
        <p:nvSpPr>
          <p:cNvPr id="10" name="Text 7"/>
          <p:cNvSpPr/>
          <p:nvPr/>
        </p:nvSpPr>
        <p:spPr>
          <a:xfrm>
            <a:off x="6401433" y="5798435"/>
            <a:ext cx="5135136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$SHELL # Какой shell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tty # Текущий TTY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--version # Версия bash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/etc/shells # Доступные shell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817600" y="5780506"/>
            <a:ext cx="5333569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1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Проверка окружения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814"/>
            <a:ext cx="10868745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Структура файловой системы Linux (FHS)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11870"/>
            <a:ext cx="11478330" cy="204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Стандарт FHS определяет иерархию директорий. Знание ключевых путей — основа навигации и отладки.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691382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0659" y="1870571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/etc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0659" y="2223988"/>
            <a:ext cx="4998416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Конфигурация системы и сервисов.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Всегда делай бэкап: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cp /etc/nginx/nginx.conf{,.bak}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3435" y="1691382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2619" y="1870571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/var/log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52619" y="2223988"/>
            <a:ext cx="4998416" cy="416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Логи приложений и системных сервисов. Первое место при отладке: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/var/log/syslog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1475" y="2981027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659" y="3160216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/home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0659" y="3513634"/>
            <a:ext cx="4998416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Домашние директории пользователей. SSH-ключи: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~/.ssh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конфиги CLI: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~/.aws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~/.kube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3435" y="2981027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2619" y="3160216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/tmp и /run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52619" y="3513634"/>
            <a:ext cx="4998416" cy="416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Временные данные (в ОЗУ). Очищаются при перезагрузке. PID-файлы и сокеты сервисов — в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/run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4270673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659" y="4449862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/proc и /sys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0659" y="4803279"/>
            <a:ext cx="4998416" cy="416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Виртуальная ФС: процессы, ядро, устройства. Только для чтения. Диагностика: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/proc/meminfo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3435" y="4270673"/>
            <a:ext cx="5356786" cy="1134467"/>
          </a:xfrm>
          <a:prstGeom prst="roundRect">
            <a:avLst>
              <a:gd name="adj" fmla="val 593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2619" y="4449862"/>
            <a:ext cx="4998416" cy="2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/usr и /opt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52619" y="4803279"/>
            <a:ext cx="4998416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Программы пакетного менеджера — в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/usr/bin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Стороннее ПО вручную — в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/opt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(Terraform, kubectl)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475" y="5579666"/>
            <a:ext cx="10868745" cy="797421"/>
          </a:xfrm>
          <a:prstGeom prst="roundRect">
            <a:avLst>
              <a:gd name="adj" fmla="val 8439"/>
            </a:avLst>
          </a:prstGeom>
          <a:solidFill>
            <a:srgbClr val="002A8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0" y="5780683"/>
            <a:ext cx="200218" cy="16013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1963" y="5774829"/>
            <a:ext cx="10188122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Где искать конфиги?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Системные сервисы → </a:t>
            </a:r>
            <a:r>
              <a:rPr lang="en-US" sz="12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/etc/&lt;сервис&gt;/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Пользовательские → </a:t>
            </a:r>
            <a:r>
              <a:rPr lang="en-US" sz="12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скрытые </a:t>
            </a:r>
            <a:r>
              <a:rPr lang="en-US" sz="12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~/.*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Временная конфигурация → </a:t>
            </a:r>
            <a:r>
              <a:rPr lang="en-US" sz="12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/run/&lt;сервис&gt;/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7233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Навигация и операции с файлами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8046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Навигация по директориям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442865"/>
            <a:ext cx="5232666" cy="2182912"/>
          </a:xfrm>
          <a:prstGeom prst="roundRect">
            <a:avLst>
              <a:gd name="adj" fmla="val 3182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608163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              # Текущая директория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          # Все файлы, включая скрытые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-lh /var/log  # Человеческий формат размеров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/var/log      # Абсолютный путь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../lib        # Относительный путь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             # Домашняя директория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-             # Предыдущая директория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811812"/>
            <a:ext cx="5232666" cy="43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Автодополнение TAB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нажимай Tab для подсказок по путям и командам.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988046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Операции с файлами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2442865"/>
            <a:ext cx="5232666" cy="2182912"/>
          </a:xfrm>
          <a:prstGeom prst="roundRect">
            <a:avLst>
              <a:gd name="adj" fmla="val 3182"/>
            </a:avLst>
          </a:prstGeom>
          <a:solidFill>
            <a:srgbClr val="1D232D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2608163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project/{src,tests,docs}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file.txt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-a /etc/nginx /backup/nginx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old.txt new.txt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file.txt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/tmp/build/*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 empty_dir/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4811812"/>
            <a:ext cx="5232666" cy="822920"/>
          </a:xfrm>
          <a:prstGeom prst="roundRect">
            <a:avLst>
              <a:gd name="adj" fmla="val 8441"/>
            </a:avLst>
          </a:prstGeom>
          <a:solidFill>
            <a:srgbClr val="4B3F02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5032474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41160" y="5001915"/>
            <a:ext cx="4530116" cy="44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Опасно!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удалит всю файловую систему. Всегда проверяй путь: </a:t>
            </a:r>
            <a:r>
              <a:rPr lang="en-US" sz="13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rm -rf /путь/к/файлам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3627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Просмотр файлов и поиск содержимого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74441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Просмотр содержимого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329259"/>
            <a:ext cx="5232666" cy="1918295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494558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config.yaml          # Полный вывод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-n config.yaml       # С нумерацией строк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/var/log/syslog     # Постранично: стрелки, /поиск, q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-n 20 app.log       # Первые 20 строк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-n 50 app.log       # Последние 50 строк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app.log          # Режим реального времени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4433590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Текстовые редакторы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4888409"/>
            <a:ext cx="5232666" cy="859830"/>
          </a:xfrm>
          <a:prstGeom prst="roundRect">
            <a:avLst>
              <a:gd name="adj" fmla="val 8079"/>
            </a:avLst>
          </a:prstGeom>
          <a:solidFill>
            <a:srgbClr val="1D232D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5053707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 file.txt   # Базовый редактор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file.txt    # Продвинутый редактор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709142"/>
            <a:ext cx="5470785" cy="4225131"/>
          </a:xfrm>
          <a:prstGeom prst="roundRect">
            <a:avLst>
              <a:gd name="adj" fmla="val 2818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1874441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с grep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139" y="2329259"/>
            <a:ext cx="5140196" cy="1918295"/>
          </a:xfrm>
          <a:prstGeom prst="roundRect">
            <a:avLst>
              <a:gd name="adj" fmla="val 3621"/>
            </a:avLst>
          </a:prstGeom>
          <a:solidFill>
            <a:srgbClr val="2C376A"/>
          </a:solidFill>
          <a:ln/>
        </p:spPr>
      </p:sp>
      <p:sp>
        <p:nvSpPr>
          <p:cNvPr id="12" name="Text 10"/>
          <p:cNvSpPr/>
          <p:nvPr/>
        </p:nvSpPr>
        <p:spPr>
          <a:xfrm>
            <a:off x="6548571" y="2494558"/>
            <a:ext cx="474333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"api_key" app.log           # Базовый поиск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"api_key" /home/user/    # Рекурсивно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"ERROR" app.log          # Подсчёт совпадений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 "DEBUG" app.log          # Без совпадений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-w "error" app.log          # Целое слово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"ERROR" -e "WARN" app.log # Несколько паттернов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0139" y="4433590"/>
            <a:ext cx="5140196" cy="822920"/>
          </a:xfrm>
          <a:prstGeom prst="roundRect">
            <a:avLst>
              <a:gd name="adj" fmla="val 8441"/>
            </a:avLst>
          </a:prstGeom>
          <a:solidFill>
            <a:srgbClr val="002A8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33" y="4654252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87395" y="4623693"/>
            <a:ext cx="4437646" cy="44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Эффективный просмотр логов:</a:t>
            </a: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/var/log/app.log | grep --line-buffered "ERROR\|Exception"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276"/>
            <a:ext cx="10868745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b="1" kern="0" spc="-4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Пути и права доступа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851297"/>
            <a:ext cx="10868745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Специальные обозначения путей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43794"/>
          <a:ext cx="10868746" cy="114009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Корень файловой системы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Домашняя директория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Текущая директория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Родительская директория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Предыдущая директория (для </a:t>
                      </a:r>
                      <a:r>
                        <a:rPr lang="en-US" sz="85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</a:t>
                      </a: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)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1362962"/>
            <a:ext cx="10868745" cy="69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1592251"/>
            <a:ext cx="10868745" cy="69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61475" y="1821540"/>
            <a:ext cx="10868745" cy="69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2050829"/>
            <a:ext cx="10868745" cy="694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408535"/>
            <a:ext cx="10868745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Разбор строки прав: </a:t>
            </a:r>
            <a:r>
              <a:rPr lang="en-US" sz="1050" b="1" kern="0" spc="-22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ls -l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1475" y="2701032"/>
            <a:ext cx="10868745" cy="1289050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11" name="Text 8"/>
          <p:cNvSpPr/>
          <p:nvPr/>
        </p:nvSpPr>
        <p:spPr>
          <a:xfrm>
            <a:off x="794822" y="2812157"/>
            <a:ext cx="1060205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drwxr-x---  1 owner  group  4096  Jan 15  10:30  mydir/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|  |  |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|  |  +-- Others: r--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|  +----- Group: r-x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+-------- Owner: rwx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+----------- Тип: d=директория, -=файл, l=ссылка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1475" y="4102001"/>
            <a:ext cx="10868745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Числовые права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394498"/>
          <a:ext cx="10868745" cy="910806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Права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Число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Применение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rw-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6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Владелец пишет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2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r--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4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Только чтение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rwx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7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Полный доступ</a:t>
                      </a:r>
                      <a:endParaRPr lang="en-US" sz="8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11122" marR="11112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61475" y="5401965"/>
            <a:ext cx="3573175" cy="593725"/>
          </a:xfrm>
          <a:prstGeom prst="roundRect">
            <a:avLst>
              <a:gd name="adj" fmla="val 7861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5297" y="5525790"/>
            <a:ext cx="3325531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600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85297" y="5751116"/>
            <a:ext cx="3325531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Приватные ключи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309260" y="5401965"/>
            <a:ext cx="3573175" cy="593725"/>
          </a:xfrm>
          <a:prstGeom prst="roundRect">
            <a:avLst>
              <a:gd name="adj" fmla="val 7861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33082" y="5525790"/>
            <a:ext cx="3325531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644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433082" y="5751116"/>
            <a:ext cx="3325531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Обычные файлы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57045" y="5401965"/>
            <a:ext cx="3573175" cy="593725"/>
          </a:xfrm>
          <a:prstGeom prst="roundRect">
            <a:avLst>
              <a:gd name="adj" fmla="val 7861"/>
            </a:avLst>
          </a:prstGeom>
          <a:solidFill>
            <a:srgbClr val="101620">
              <a:alpha val="95000"/>
            </a:srgbClr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80867" y="5525790"/>
            <a:ext cx="3325531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755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080867" y="5751116"/>
            <a:ext cx="3325531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Исполняемые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61475" y="6079629"/>
            <a:ext cx="10868745" cy="318095"/>
          </a:xfrm>
          <a:prstGeom prst="roundRect">
            <a:avLst>
              <a:gd name="adj" fmla="val 14672"/>
            </a:avLst>
          </a:prstGeom>
          <a:solidFill>
            <a:srgbClr val="002A8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97" y="6182023"/>
            <a:ext cx="138903" cy="111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22622" y="6182023"/>
            <a:ext cx="11006061" cy="12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Для директории </a:t>
            </a:r>
            <a:r>
              <a:rPr lang="en-US" sz="8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означает возможность </a:t>
            </a:r>
            <a:r>
              <a:rPr lang="en-US" sz="8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войти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</a:t>
            </a:r>
            <a:r>
              <a:rPr lang="en-US" sz="8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), а </a:t>
            </a:r>
            <a:r>
              <a:rPr lang="en-US" sz="85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создавать и удалять файлы внутри. Удаление файла определяется правами на </a:t>
            </a:r>
            <a:r>
              <a:rPr lang="en-US" sz="8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директорию</a:t>
            </a:r>
            <a:r>
              <a:rPr lang="en-US" sz="8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а не на сам файл.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9864"/>
            <a:ext cx="108687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b="1" kern="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файлов: утилита </a:t>
            </a:r>
            <a:r>
              <a:rPr lang="en-US" sz="2500" b="1" kern="0" spc="-51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27919"/>
            <a:ext cx="10868745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мощный инструмент для поиска файлов по имени, типу, времени изменения и размеру. Ключевое отличие от </a:t>
            </a:r>
            <a:r>
              <a:rPr lang="en-US" sz="10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</a:t>
            </a:r>
            <a:r>
              <a:rPr lang="en-US" sz="10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ищет </a:t>
            </a: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файлы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а </a:t>
            </a:r>
            <a:r>
              <a:rPr lang="en-US" sz="10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ищет </a:t>
            </a: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содержимое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внутри файлов.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46820"/>
            <a:ext cx="5383872" cy="1498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5902" y="1695053"/>
            <a:ext cx="5011215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по имени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85902" y="2018506"/>
            <a:ext cx="5011215" cy="671711"/>
          </a:xfrm>
          <a:prstGeom prst="roundRect">
            <a:avLst>
              <a:gd name="adj" fmla="val 8079"/>
            </a:avLst>
          </a:prstGeom>
          <a:solidFill>
            <a:srgbClr val="1D232D"/>
          </a:solidFill>
          <a:ln/>
        </p:spPr>
      </p:sp>
      <p:sp>
        <p:nvSpPr>
          <p:cNvPr id="7" name="Text 4"/>
          <p:cNvSpPr/>
          <p:nvPr/>
        </p:nvSpPr>
        <p:spPr>
          <a:xfrm>
            <a:off x="1040878" y="2147689"/>
            <a:ext cx="470126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 -name "*.log"       # С учётом регистра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 -iname "*.log"      # Без учёта регистра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249" y="1546820"/>
            <a:ext cx="5383971" cy="14983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70677" y="1695053"/>
            <a:ext cx="5011314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по времени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70677" y="2018506"/>
            <a:ext cx="5011314" cy="878384"/>
          </a:xfrm>
          <a:prstGeom prst="roundRect">
            <a:avLst>
              <a:gd name="adj" fmla="val 6178"/>
            </a:avLst>
          </a:prstGeom>
          <a:solidFill>
            <a:srgbClr val="1D232D"/>
          </a:solidFill>
          <a:ln/>
        </p:spPr>
      </p:sp>
      <p:sp>
        <p:nvSpPr>
          <p:cNvPr id="11" name="Text 7"/>
          <p:cNvSpPr/>
          <p:nvPr/>
        </p:nvSpPr>
        <p:spPr>
          <a:xfrm>
            <a:off x="6525652" y="2147689"/>
            <a:ext cx="4701363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/etc -mtime -1    # За последние 24 часа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/etc -mtime +7    # Более 7 дней назад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/etc -mmin -30    # За последние 30 минут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46028"/>
            <a:ext cx="5383872" cy="12916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5902" y="3294261"/>
            <a:ext cx="5011215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по размеру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85902" y="3617714"/>
            <a:ext cx="5011215" cy="671711"/>
          </a:xfrm>
          <a:prstGeom prst="roundRect">
            <a:avLst>
              <a:gd name="adj" fmla="val 8079"/>
            </a:avLst>
          </a:prstGeom>
          <a:solidFill>
            <a:srgbClr val="1D232D"/>
          </a:solidFill>
          <a:ln/>
        </p:spPr>
      </p:sp>
      <p:sp>
        <p:nvSpPr>
          <p:cNvPr id="15" name="Text 10"/>
          <p:cNvSpPr/>
          <p:nvPr/>
        </p:nvSpPr>
        <p:spPr>
          <a:xfrm>
            <a:off x="1040878" y="3746897"/>
            <a:ext cx="470126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/home -type f -size +100M  # Больше 100 MB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/home -type f -size 0      # Пустые файлы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249" y="3146028"/>
            <a:ext cx="5383971" cy="12916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0677" y="3294261"/>
            <a:ext cx="5011314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Поиск с действием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370677" y="3617714"/>
            <a:ext cx="5011314" cy="671711"/>
          </a:xfrm>
          <a:prstGeom prst="roundRect">
            <a:avLst>
              <a:gd name="adj" fmla="val 8079"/>
            </a:avLst>
          </a:prstGeom>
          <a:solidFill>
            <a:srgbClr val="1D232D"/>
          </a:solidFill>
          <a:ln/>
        </p:spPr>
      </p:sp>
      <p:sp>
        <p:nvSpPr>
          <p:cNvPr id="19" name="Text 13"/>
          <p:cNvSpPr/>
          <p:nvPr/>
        </p:nvSpPr>
        <p:spPr>
          <a:xfrm>
            <a:off x="6525652" y="3746897"/>
            <a:ext cx="4701363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/tmp -name "*.tmp" -mtime +7 -delete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"*.txt" -exec cp {} /backup/ \;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61475" y="4551164"/>
            <a:ext cx="10868745" cy="1806972"/>
          </a:xfrm>
          <a:prstGeom prst="roundRect">
            <a:avLst>
              <a:gd name="adj" fmla="val 3003"/>
            </a:avLst>
          </a:prstGeom>
          <a:solidFill>
            <a:srgbClr val="4B3F0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654" y="4684316"/>
            <a:ext cx="161425" cy="12918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81259" y="4684316"/>
            <a:ext cx="10319782" cy="30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Осторожно с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-delete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 другими действиями: они выполняются сразу после совпадения и могут удалить или изменить больше файлов, чем вы ожидаете. Сначала всегда проверьте сам шаблон поиска без действий, затем запускайте команду с безопасной проверкой.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081259" y="5080496"/>
            <a:ext cx="10319782" cy="914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96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Сначала тестируйте шаблон без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-delete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 /tmp -name "*.tmp" -mtime +7</a:t>
            </a:r>
            <a:endParaRPr lang="en-US" sz="1000" dirty="0"/>
          </a:p>
          <a:p>
            <a:pPr marL="203200" indent="-203200" algn="l">
              <a:lnSpc>
                <a:spcPct val="96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Добавляйте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-print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чтобы увидеть список найденных файлов перед действием: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"*.txt" -print</a:t>
            </a:r>
            <a:endParaRPr lang="en-US" sz="1000" dirty="0"/>
          </a:p>
          <a:p>
            <a:pPr marL="203200" indent="-203200" algn="l">
              <a:lnSpc>
                <a:spcPct val="96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Проверяйте, что поиск ограничен нужной директорией, а не всей системой</a:t>
            </a:r>
            <a:endParaRPr lang="en-US" sz="1000" dirty="0"/>
          </a:p>
          <a:p>
            <a:pPr marL="203200" indent="-203200" algn="l">
              <a:lnSpc>
                <a:spcPct val="96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Для массовых изменений сначала используйте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-exec echo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cp -i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/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 -i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чтобы увидеть, что будет сделано</a:t>
            </a:r>
            <a:endParaRPr lang="en-US" sz="1000" dirty="0"/>
          </a:p>
          <a:p>
            <a:pPr marL="203200" indent="-203200" algn="l">
              <a:lnSpc>
                <a:spcPct val="96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Если сомневаетесь, запустите команду с </a:t>
            </a:r>
            <a:r>
              <a:rPr lang="en-US" sz="10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-ls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без действия и убедитесь, что результаты совпадают с ожиданиями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081259" y="6085582"/>
            <a:ext cx="10929366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Безопасная привычка: </a:t>
            </a: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сначала найти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потом проверить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и только после этого </a:t>
            </a: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удалять или копировать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3195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Архивы и сжатие данных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34009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Основные утилиты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88827"/>
          <a:ext cx="5232666" cy="3037606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Утилита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Назначение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Архивирование со сжатием или без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gzip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Сжатие .gz (быстро)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bzip2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Сжатие .bz2 (сильнее)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xz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Сжатие .xz (максимально)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zip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Кросс-платформенные архивы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307799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2955285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394118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832952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6"/>
          <p:cNvSpPr/>
          <p:nvPr/>
        </p:nvSpPr>
        <p:spPr>
          <a:xfrm>
            <a:off x="661475" y="4271785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125244"/>
            <a:ext cx="5232666" cy="822920"/>
          </a:xfrm>
          <a:prstGeom prst="roundRect">
            <a:avLst>
              <a:gd name="adj" fmla="val 8441"/>
            </a:avLst>
          </a:prstGeom>
          <a:solidFill>
            <a:srgbClr val="002A8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45906"/>
            <a:ext cx="206667" cy="1652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98731" y="5315347"/>
            <a:ext cx="4530116" cy="442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Выбор формата: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Логи → </a:t>
            </a:r>
            <a:r>
              <a:rPr lang="en-US" sz="13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gzip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Большие БД → </a:t>
            </a:r>
            <a:r>
              <a:rPr lang="en-US" sz="13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xz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Кросс-платформа → </a:t>
            </a:r>
            <a:r>
              <a:rPr lang="en-US" sz="1300" dirty="0">
                <a:solidFill>
                  <a:srgbClr val="FFFFFF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84844" y="1268710"/>
            <a:ext cx="5470785" cy="5105995"/>
          </a:xfrm>
          <a:prstGeom prst="roundRect">
            <a:avLst>
              <a:gd name="adj" fmla="val 2332"/>
            </a:avLst>
          </a:prstGeom>
          <a:solidFill>
            <a:srgbClr val="6296FF">
              <a:alpha val="95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350139" y="1434009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Практика с tar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350139" y="1888827"/>
            <a:ext cx="5140196" cy="4299843"/>
          </a:xfrm>
          <a:prstGeom prst="roundRect">
            <a:avLst>
              <a:gd name="adj" fmla="val 1616"/>
            </a:avLst>
          </a:prstGeom>
          <a:solidFill>
            <a:srgbClr val="2D6EEF"/>
          </a:solidFill>
          <a:ln/>
        </p:spPr>
      </p:sp>
      <p:sp>
        <p:nvSpPr>
          <p:cNvPr id="16" name="Text 12"/>
          <p:cNvSpPr/>
          <p:nvPr/>
        </p:nvSpPr>
        <p:spPr>
          <a:xfrm>
            <a:off x="6548571" y="2054126"/>
            <a:ext cx="4743331" cy="3969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Создать архив с gzip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-czf backup.tar.gz /var/lib/postgresql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Создать архив с xz (максимум)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-cJf backup.tar.xz /home/user/project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Просмотр содержимого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-tzf archive.tar.gz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-tvf archive.tar # Подробно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Распаковать в директорию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-xzf archive.tar.gz -C /restore/path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Извлечь конкретный файл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tar -xzf backup.tar.gz var/log/app/error.log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60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Переменные окружения и алиасы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53766"/>
            <a:ext cx="10868745" cy="436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Переменная окружения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экспортированное значение, наследуемое дочерними процессами.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VAR=1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без </a:t>
            </a: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останется внутри shell.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Алиас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короткое имя-синоним для команды, подставляемое shell при разборе строки.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341463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Работа с переменными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796282"/>
            <a:ext cx="5232666" cy="2182912"/>
          </a:xfrm>
          <a:prstGeom prst="roundRect">
            <a:avLst>
              <a:gd name="adj" fmla="val 3182"/>
            </a:avLst>
          </a:prstGeom>
          <a:solidFill>
            <a:srgbClr val="1D232D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2961580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                # Все переменные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          # Конкретная переменная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APP_ENV=production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SUPER_SECRET=secret ./deploy.sh  # Для одной команды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PATH="$HOME/bin:$PATH"' &gt;&gt; ~/.bashrc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    # Применить изменения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unset PATH          # Удалить переменную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341463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Алиасы для продуктивности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2796282"/>
            <a:ext cx="5232666" cy="1918295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2961580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ll='ls -lah'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..='cd ..'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ipa='ip -c -br a'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              # Список алиасов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ipa            # Что скрывается за именем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unalias ll          # Удалить алиас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900612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Файлы конфигурации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5334695"/>
            <a:ext cx="5232666" cy="77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~/.bashrc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каждый новый терминал (алиасы, функции)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~/.profile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при логине (PATH, переменные)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/etc/bash.bashrc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системные настройки для всех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695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История команд и самопроверка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59508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История и горячие клавиши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914327"/>
            <a:ext cx="5232666" cy="1653679"/>
          </a:xfrm>
          <a:prstGeom prst="roundRect">
            <a:avLst>
              <a:gd name="adj" fmla="val 4201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079625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              # Просмотр истории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| grep "192.168"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                   # Последняя команда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!123                  # Команда по номеру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-c            # Очистить историю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754041"/>
          <a:ext cx="5232666" cy="2396471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Ctrl+A / 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Начало / конец строки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Очистить экран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Прервать команду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Ctrl+Z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Отправить в фон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fg / bg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Вернуть на передний план / в фон</a:t>
                      </a:r>
                      <a:endParaRPr lang="en-US" sz="13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4179362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618196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5057029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495863"/>
            <a:ext cx="5232666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8"/>
          <p:cNvSpPr/>
          <p:nvPr/>
        </p:nvSpPr>
        <p:spPr>
          <a:xfrm>
            <a:off x="6184844" y="1294209"/>
            <a:ext cx="5470785" cy="5055096"/>
          </a:xfrm>
          <a:prstGeom prst="roundRect">
            <a:avLst>
              <a:gd name="adj" fmla="val 2356"/>
            </a:avLst>
          </a:prstGeom>
          <a:solidFill>
            <a:srgbClr val="1F2A5D">
              <a:alpha val="9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50139" y="1459508"/>
            <a:ext cx="514019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Контрольные вопросы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0139" y="1893590"/>
            <a:ext cx="5140196" cy="1540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Чем абсолютный путь отличается от относительного?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Что означает строка прав </a:t>
            </a:r>
            <a:r>
              <a:rPr lang="en-US" sz="130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drwxr-x---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?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найти все </a:t>
            </a:r>
            <a:r>
              <a:rPr lang="en-US" sz="130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.conf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за последние 3 дня и скопировать в бэкап?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Почему </a:t>
            </a:r>
            <a:r>
              <a:rPr lang="en-US" sz="1300" dirty="0">
                <a:solidFill>
                  <a:srgbClr val="EBEDF0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rm -rf *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опасен? Как защититься?</a:t>
            </a:r>
            <a:endParaRPr lang="en-US" sz="1300" dirty="0"/>
          </a:p>
          <a:p>
            <a:pPr marL="264160" indent="-264160" algn="l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добавить переменную окружения навсегда?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0139" y="3620095"/>
            <a:ext cx="5140196" cy="1708348"/>
          </a:xfrm>
          <a:prstGeom prst="roundRect">
            <a:avLst>
              <a:gd name="adj" fmla="val 4066"/>
            </a:avLst>
          </a:prstGeom>
          <a:solidFill>
            <a:srgbClr val="002A8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433" y="3840758"/>
            <a:ext cx="206667" cy="165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87395" y="3810198"/>
            <a:ext cx="4437646" cy="1328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Ответы: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(1) Абсолютный — от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относительный — от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(2)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750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владелец — всё, группа — чтение+вход, остальные — ничего. (3)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 /etc -type f -name '*.conf' -mtime -3 -exec cp {} /backup/ \;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(4) Всегда проверяй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используй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rm -i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-u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в скриптах. (5) </a:t>
            </a:r>
            <a:r>
              <a:rPr lang="en-US" sz="1300" dirty="0">
                <a:solidFill>
                  <a:srgbClr val="FFFFFF"/>
                </a:solidFill>
                <a:highlight>
                  <a:srgbClr val="2C376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VAR=val' &gt;&gt; ~/.bashrc &amp;&amp; source ~/.bashrc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1662</Words>
  <Application>Microsoft Office PowerPoint</Application>
  <PresentationFormat>Широкоэкранный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Geist Bold</vt:lpstr>
      <vt:lpstr>Arial</vt:lpstr>
      <vt:lpstr>Consolas</vt:lpstr>
      <vt:lpstr>Geist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Джамбулат Кагерманов</cp:lastModifiedBy>
  <cp:revision>3</cp:revision>
  <dcterms:created xsi:type="dcterms:W3CDTF">2026-09-20T20:13:27Z</dcterms:created>
  <dcterms:modified xsi:type="dcterms:W3CDTF">2026-09-20T20:39:32Z</dcterms:modified>
</cp:coreProperties>
</file>