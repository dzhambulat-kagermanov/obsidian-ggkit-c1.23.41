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ist" panose="020B0604020202020204" charset="-52"/>
      <p:regular r:id="rId13"/>
    </p:embeddedFont>
    <p:embeddedFont>
      <p:font typeface="Geist Bold" panose="020B0604020202020204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9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011263"/>
            <a:ext cx="6296860" cy="107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240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Использование </a:t>
            </a:r>
            <a:r>
              <a:rPr lang="ru-RU" sz="2400" b="1" kern="0" spc="-65" dirty="0" err="1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фаерволов</a:t>
            </a:r>
            <a:r>
              <a:rPr lang="ru-RU" sz="240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и межсетевых экранов для комплексной защиты корпоративной сети от несанкционированного доступа через Интернет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3360" y="3334246"/>
            <a:ext cx="6296860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Межсетевые экраны (фаерволы) — фундаментальный элемент корпоративной информационной безопасности. Данный курс охватывает теоретические основы фильтрации трафика, архитектурные модели развёртывания, механизмы NAT, межсетевые экраны нового поколения (NGFW) и ограничения классической периметровой защиты в эпоху Zero Trust.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721026"/>
            <a:ext cx="2627445" cy="251420"/>
          </a:xfrm>
          <a:prstGeom prst="roundRect">
            <a:avLst>
              <a:gd name="adj" fmla="val 22103"/>
            </a:avLst>
          </a:prstGeom>
          <a:solidFill>
            <a:srgbClr val="00194D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4770636"/>
            <a:ext cx="303859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ИНФОРМАЦИОННАЯ БЕЗОПАСНОСТЬ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43453" y="4721026"/>
            <a:ext cx="1711778" cy="251420"/>
          </a:xfrm>
          <a:prstGeom prst="roundRect">
            <a:avLst>
              <a:gd name="adj" fmla="val 22103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2669" y="4770636"/>
            <a:ext cx="212293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СЕТЕВЫЕ ТЕХНОЛОГИИ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737878" y="4721026"/>
            <a:ext cx="1507790" cy="251420"/>
          </a:xfrm>
          <a:prstGeom prst="roundRect">
            <a:avLst>
              <a:gd name="adj" fmla="val 22103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37095" y="4770636"/>
            <a:ext cx="191894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NGFW &amp; ZERO TRUST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0427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Введение: что такое межсетевой экран?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88591"/>
            <a:ext cx="10868745" cy="1906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Межсетевые экраны (МЭ), также известные как фаерволы, представляют собой программные или аппаратно-программные комплексы, предназначенные для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фильтрации сетевого трафика на основе заданных правил безопасности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В теоретической модели информационной безопасности корпоративной сети МЭ формируют базовый периметр защиты, разграничивая зоны с разным уровнем доверия: недоверенную внешнюю среду (Интернет) и внутреннюю корпоративную инфраструктуру.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Основная теоретическая задача фаервола заключается не в обнаружении сложных многоэтапных атак, а в строгом контроле потоков данных, обеспечении сокрытия внутренней топологии сети и блокировке неавторизованных сетевых сессий. Именно эти три функции — контроль потоков, сокрытие топологии и блокировка неавторизованных сессий — определяют базовую роль МЭ в модели безопасности корпоративной сети.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680718"/>
            <a:ext cx="3512653" cy="2456755"/>
          </a:xfrm>
          <a:prstGeom prst="roundRect">
            <a:avLst>
              <a:gd name="adj" fmla="val 282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19" y="3865066"/>
            <a:ext cx="314396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Фильтрация трафика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4233069"/>
            <a:ext cx="3143965" cy="172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Контроль всех входящих и исходящих сетевых потоков на основе заранее определённых правил безопасности. МЭ принимает решение о пропуске или блокировке каждого пакета, анализируя его характеристики в соответствии с заданными политиками.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3680718"/>
            <a:ext cx="3512752" cy="2456755"/>
          </a:xfrm>
          <a:prstGeom prst="roundRect">
            <a:avLst>
              <a:gd name="adj" fmla="val 282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3766" y="3865066"/>
            <a:ext cx="314406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Разграничение зон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3766" y="4233069"/>
            <a:ext cx="3144064" cy="150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Создание чёткой границы между недоверенной внешней средой (Интернет) и внутренней корпоративной инфраструктурой. МЭ формирует базовый периметр защиты, определяя, какие потоки данных могут пересекать эту границу.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3680718"/>
            <a:ext cx="3512653" cy="2456755"/>
          </a:xfrm>
          <a:prstGeom prst="roundRect">
            <a:avLst>
              <a:gd name="adj" fmla="val 282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1812" y="3865066"/>
            <a:ext cx="314396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Сокрытие топологии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01812" y="4233069"/>
            <a:ext cx="3143965" cy="150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Защита внутренней структуры сети от внешнего наблюдения. Механизмы МЭ обеспечивают невидимость реальных IP-адресов рабочих станций для внешних сканеров, скрывая внутреннюю топологию корпоративной сети.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095"/>
            <a:ext cx="10868745" cy="107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Эволюция механизмов фильтрации: от пакетов к состоянию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77727"/>
            <a:ext cx="10868745" cy="860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Процесс обработки сетевого пакета межсетевым экраном базируется на многоуровневой модели OSI. В зависимости от глубины анализа выделяются несколько теоретических поколений и механизмов фильтрации. Первые два поколения — фильтрация пакетов и контроль состояния — работают на сетевом (L3) и транспортном (L4) уровнях, анализируя заголовки пакетов и отслеживая состояние сессий.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3023791"/>
            <a:ext cx="5470785" cy="3262114"/>
          </a:xfrm>
          <a:prstGeom prst="roundRect">
            <a:avLst>
              <a:gd name="adj" fmla="val 3650"/>
            </a:avLst>
          </a:prstGeom>
          <a:solidFill>
            <a:srgbClr val="6296FF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189089"/>
            <a:ext cx="514019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1. Фильтрация пакетов (Packet Filtering)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623171"/>
            <a:ext cx="5140196" cy="2447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Работает на сетевом (L3) и транспортном (L4) уровнях модели OSI. Анализ осуществляется на основе заголовков пакетов: IP-адресов отправителя и получателя, номеров портов и протоколов.</a:t>
            </a:r>
            <a:endParaRPr lang="en-US" sz="1300" dirty="0"/>
          </a:p>
          <a:p>
            <a:pPr marL="0" indent="0" algn="l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Аналогия:</a:t>
            </a: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Проверка конверта на почтовом сортировочном центре без вскрытия самого письма. Решения принимаются исключительно на основе видимых метаданных.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Недостатки:</a:t>
            </a: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Отсутствие понимания контекста сессии делает сеть уязвимой к спуфингу (подмене адресов) и не позволяет корректно обрабатывать динамические протоколы.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189089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2. Контроль состояния (Stateful Inspection)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623171"/>
            <a:ext cx="5232666" cy="2513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Теория stateful inspection заключается в ведении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таблицы состояний (state table)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где хранится информация о всех активных сетевых сессиях. Межсетевой экран анализирует не только изолированный пакет, но и его принадлежность к установленному TCP/UDP-соединению.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Если пакет является ответом на легитимный запрос из внутренней сети, он пропускается автоматически — без необходимости прописывания явных правил для обратного трафика. Это принципиально отличает stateful inspection от классической пакетной фильтрации, которая рассматривает каждый пакет изолированно, без учёта контекста сессии.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9182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Глубокая инспекция пакетов (DPI)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67346"/>
            <a:ext cx="10868745" cy="43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DPI переносит точку контроля на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прикладной уровень (L7)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модели OSI. Механизм анализирует не только заголовки, но и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полезную нагрузку (payload)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пакета, распознавая сигнатуры известных уязвимостей, вредоносного кода или специфических приложений.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48694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Принципиальное отличие от Packet Filtering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2682776"/>
            <a:ext cx="5232666" cy="2298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Классическая фильтрация пакетов работает на L3/L4 и анализирует исключительно заголовки пакетов (IP-адреса, номера портов, протоколы), не вскрывая их содержимое. DPI переносит точку контроля на прикладной уровень (L7) и анализирует фактическое содержимое передаваемых данных.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Аналогия: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Вскрытие конверта и чтение текста письма для проверки на наличие запрещённых слов или вложений. Это позволяет механизму распознавать сигнатуры известных уязвимостей, вредоносный код и специфические приложения, анализируя содержимое пакета, а не только его заголовки.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248694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Многоуровневая обработка пакета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904" y="2703513"/>
            <a:ext cx="5232666" cy="2145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73915" y="2982155"/>
            <a:ext cx="1246753" cy="1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Инспекция L7 (DPI)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573915" y="3188567"/>
            <a:ext cx="2521212" cy="12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анализ полезной нагрузки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573915" y="3602776"/>
            <a:ext cx="1246753" cy="1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Таблица состояний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573915" y="3809188"/>
            <a:ext cx="2521212" cy="12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известная или новая сессия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573915" y="4228939"/>
            <a:ext cx="1246753" cy="1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Проверка L3/L4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73915" y="4435351"/>
            <a:ext cx="2521212" cy="12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IP, порт, протокол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303904" y="5034855"/>
            <a:ext cx="5232666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Входящий пакет последовательно проходит проверку на уровнях L3/L4, затем проверку таблицы состояний и, при необходимости, глубокую инспекцию на прикладном уровне L7. Решение о пропуске или отбрасывании пакета принимается на основе результатов всех пройденных уровней анализа.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0948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Архитектурные модели: эшелонированная оборона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89113"/>
            <a:ext cx="10868745" cy="64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Для обеспечения комплексной защиты теория сетевой безопасности предписывает использование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эшелонированной обороны (Defense in Depth)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Одиночный периметровый фаервол не способен обеспечить достаточный уровень безопасности из-за риска его компрометации или обхода. Современная теория требует размещения МЭ как на периметре, так и внутри корпоративной сети.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20169"/>
            <a:ext cx="5351725" cy="3316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804517"/>
            <a:ext cx="4906840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Зона DMZ (Demilitarized Zone)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3172520"/>
            <a:ext cx="4906840" cy="2580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DMZ представляет собой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изолированный сетевой сегмент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размещаемый между внешним и внутренним межсетевыми экранами. В данной зоне публикуются сервисы, требующие доступа из Интернета — веб-серверы, почтовые шлюзы. Теоретическая модель DMZ гарантирует, что даже в случае компрометации публичного сервиса злоумышленник столкнётся со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вторым барьером защиты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перед доступом к внутренним ресурсам корпоративной сети. Публичные сервисы размещают именно в DMZ, а не во внутренней сети, чтобы обеспечить этот дополнительный барьер: при компрометации сервиса атакующий не получит прямого доступа к внутренним ресурсам.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620169"/>
            <a:ext cx="5351725" cy="33167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9037" y="2804517"/>
            <a:ext cx="4906840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Сегментация внутренней сети (Internal Segmentation)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39037" y="3441303"/>
            <a:ext cx="4906840" cy="215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Современная теория требует размещения фаерволов не только на периметре, но и внутри корпоративной сети. Внутренние МЭ ограничивают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горизонтальное перемещение (lateral movement)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злоумышленника. Сеть делится на микросегменты — например, сегменты для бухгалтерии, разработки, гостевого доступа — между которыми трафик строго регламентируется по принципу минимальных привилегий. Такая сегментация не позволяет злоумышленнику, проникшему в один сегмент, свободно перемещаться по всей корпоративной инфраструктуре.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Архитектура развёртывания: от Интернета до микросегментов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806252"/>
            <a:ext cx="10868745" cy="16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Типовая архитектура эшелонированной защиты включает несколько уровней контроля. Внешний МЭ фильтрует входящий трафик из Интернета, направляя его в зону DMZ с публичными сервисами. Внутренний МЭ защищает ядро корпоративной сети, а дополнительные внутренние МЭ контролируют трафик между микросегментами.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1381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546652"/>
            <a:ext cx="10868745" cy="16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Данная архитектура реализует принцип эшелонированной обороны: каждый уровень защиты добавляет дополнительный барьер на пути потенциального злоумышленника. Даже при успешной компрометации одного из уровней атакующий сталкивается со следующим барьером защиты, что существенно затрудняет достижение цели атаки.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9909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NAT: трансляция адресов и сокрытие топологии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30723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Основная функция NAT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564805"/>
            <a:ext cx="5232666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Важным теоретическим аспектом работы фаервола является реализация механизмов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NAT (Network Address Translation)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NAT позволяет множеству устройств внутри корпоративной сети использовать один или несколько публичных IP-адресов для выхода в Интернет, что решает задачу экономии публичных адресов.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020145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Роль в безопасности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4454227"/>
            <a:ext cx="5232666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 точки зрения безопасности, NAT реализует концепцию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«безопасности через неясность» (security through obscurity)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Внутренняя топология сети и реальные IP-адреса рабочих станций становятся невидимыми для внешних сканеров, что затрудняет разведку сети злоумышленником.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4844" y="1965424"/>
            <a:ext cx="5470785" cy="3712666"/>
          </a:xfrm>
          <a:prstGeom prst="roundRect">
            <a:avLst>
              <a:gd name="adj" fmla="val 3207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50139" y="2130723"/>
            <a:ext cx="514019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Нарушение сквозной связности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2564805"/>
            <a:ext cx="5140196" cy="2513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Кроме того, NAT нарушает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сквозную связность (end-to-end connectivity)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что теоретически затрудняет инициацию входящих соединений извне. Входящее соединение не может быть установлено, если оно не является ответом на легитимный исходящий запрос или не было явно разрешено правилами фаервола.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Таким образом, помимо своей основной функции экономии публичных IP-адресов, NAT вносит дополнительный вклад в безопасность корпоративной сети, скрывая её внутреннюю структуру и ограничивая возможность неавторизованных входящих подключений.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5555"/>
            <a:ext cx="10868745" cy="49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b="1" kern="0" spc="-6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Межсетевые экраны нового поколения (NGFW)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52141"/>
            <a:ext cx="1086874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Классические МЭ оперируют понятиями портов и IP-адресов. Однако современная теория сетевой защиты требует перехода к концепции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NGFW (Next-Generation Firewall)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которые интегрируют дополнительные аналитические модули, выходящие за рамки традиционной фильтрации по IP-адресам и номерам портов.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981696"/>
            <a:ext cx="5364128" cy="2225377"/>
          </a:xfrm>
          <a:prstGeom prst="roundRect">
            <a:avLst>
              <a:gd name="adj" fmla="val 287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921" y="2153146"/>
            <a:ext cx="457387" cy="4573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727" y="2278955"/>
            <a:ext cx="205775" cy="205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921" y="2751038"/>
            <a:ext cx="5021236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Идентификация приложений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2921" y="3083123"/>
            <a:ext cx="5021236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NGFW способны распознавать конкретные приложения независимо от используемого порта — например, отличать легитимный веб-трафик от трафика мессенджера, использующего порт 443. Это реализуется через анализ сигнатур прикладного уровня (Application Control).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66093" y="1981696"/>
            <a:ext cx="5364128" cy="2225377"/>
          </a:xfrm>
          <a:prstGeom prst="roundRect">
            <a:avLst>
              <a:gd name="adj" fmla="val 287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37538" y="2153146"/>
            <a:ext cx="457387" cy="4573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3345" y="2278955"/>
            <a:ext cx="205775" cy="2057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37538" y="2751038"/>
            <a:ext cx="5021236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Каталоги пользователей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37538" y="3083123"/>
            <a:ext cx="502123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Правила фильтрации привязываются не к IP-адресам, которые могут быть динамическими, а к учётным записям пользователей (например, из Active Directory). Это обеспечивает персонализацию политик безопасности.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61475" y="4347567"/>
            <a:ext cx="5364128" cy="2034877"/>
          </a:xfrm>
          <a:prstGeom prst="roundRect">
            <a:avLst>
              <a:gd name="adj" fmla="val 314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921" y="4519017"/>
            <a:ext cx="457387" cy="4573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727" y="4644827"/>
            <a:ext cx="205775" cy="2057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921" y="5116909"/>
            <a:ext cx="5021236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Интеграция с IPS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921" y="5448995"/>
            <a:ext cx="50212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Встроенный IPS-модуль анализирует трафик на наличие эксплойтов и сетевых аномалий в режиме реального времени, блокируя их до достижения целевого узла.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66093" y="4347567"/>
            <a:ext cx="5364128" cy="2034877"/>
          </a:xfrm>
          <a:prstGeom prst="roundRect">
            <a:avLst>
              <a:gd name="adj" fmla="val 314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37538" y="4519017"/>
            <a:ext cx="457387" cy="4573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63345" y="4644827"/>
            <a:ext cx="205775" cy="2057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37538" y="5116909"/>
            <a:ext cx="5021236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Инспекция SSL/TLS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37538" y="5448995"/>
            <a:ext cx="502123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Поскольку большая часть интернет-трафика зашифрована, теория комплексной защиты требует обязательной расшифровки SSL/TLS сессий на фаерволе, проверки содержимого на наличие вредоносного кода и последующего обратного шифрования.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4386"/>
            <a:ext cx="10868745" cy="529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kern="0" spc="-6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Ограничения периметровой защиты и Zero Trust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333897"/>
            <a:ext cx="10868745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Несмотря на фундаментальную важность фаерволов, современная теория информационной безопасности признаёт концепцию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«замка и рва» (perimeter-based security)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устаревшей. Классическая модель предполагает чёткую границу между доверенной внутренней сетью и недоверенной внешней средой, однако в современных условиях эта граница становится всё более размытой.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144018"/>
            <a:ext cx="3516026" cy="2613720"/>
          </a:xfrm>
          <a:prstGeom prst="roundRect">
            <a:avLst>
              <a:gd name="adj" fmla="val 2616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3239" y="2325787"/>
            <a:ext cx="3152498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Размывание периметра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3239" y="2686447"/>
            <a:ext cx="3152498" cy="188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Использование облачных сервисов, мобильных устройств и удалённого доступа делает физический периметр сети неопределённым. Сотрудники работают из разных мест, корпоративные данные размещаются в облаке, и традиционная граница между «внутри» и «снаружи» перестаёт быть чёткой.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7735" y="2144018"/>
            <a:ext cx="3516125" cy="2613720"/>
          </a:xfrm>
          <a:prstGeom prst="roundRect">
            <a:avLst>
              <a:gd name="adj" fmla="val 2616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9499" y="2325787"/>
            <a:ext cx="3152597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Внутренние угрозы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9499" y="2686447"/>
            <a:ext cx="3152597" cy="1469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Фаервол на границе сети бессилен против инсайдера или вредоносного ПО, уже попавшего внутрь периметра — например, через фишинг. Периметровый МЭ не может предотвратить атаки, инициированные изнутри корпоративной сети.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14095" y="2144018"/>
            <a:ext cx="3516125" cy="2613720"/>
          </a:xfrm>
          <a:prstGeom prst="roundRect">
            <a:avLst>
              <a:gd name="adj" fmla="val 2616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5859" y="2325787"/>
            <a:ext cx="3152597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Зашифрованный трафик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95859" y="2686447"/>
            <a:ext cx="3152597" cy="1469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Даже при наличии SSL-инспекции использование end-to-end шифрования (например, в некоторых мессенджерах) делает глубокий анализ трафика на периметре невозможным без нарушения криптографической стойкости.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1475" y="4938018"/>
            <a:ext cx="10868745" cy="1435497"/>
          </a:xfrm>
          <a:prstGeom prst="roundRect">
            <a:avLst>
              <a:gd name="adj" fmla="val 4763"/>
            </a:avLst>
          </a:prstGeom>
          <a:solidFill>
            <a:srgbClr val="002A8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90" y="5142607"/>
            <a:ext cx="203493" cy="16271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0397" y="5138936"/>
            <a:ext cx="10177109" cy="1049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Zero Trust Architecture: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В связи с этими ограничениями использование фаерволов в современной корпоративной сети рассматривается не как абсолютное решение, а как один из слоёв в архитектуре нулевого доверия. В парадигме Zero Trust фаерволы обеспечивают базовую сетевую сегментацию и контроль потоков данных, в то время как проверка доверия осуществляется непрерывно — на уровне каждого запроса к ресурсу, независимо от его источника (изнутри или снаружи периметра).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5321"/>
            <a:ext cx="10868745" cy="503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50" b="1" kern="0" spc="-6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Контрольные вопросы для самопроверки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61475" y="1299964"/>
            <a:ext cx="348844" cy="348853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9616" y="1323231"/>
            <a:ext cx="232563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55671" y="1348383"/>
            <a:ext cx="1037454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DPI vs. Packet Filtering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5671" y="1687413"/>
            <a:ext cx="103745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 чем заключается принципиальное теоретическое отличие механизма глубокой инспекции пакетов (DPI) от классической фильтрации пакетов (Packet Filtering)? На каких уровнях модели OSI они работают?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2368649"/>
            <a:ext cx="348844" cy="348853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9616" y="2391916"/>
            <a:ext cx="232563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5671" y="2417068"/>
            <a:ext cx="1037454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Роль зоны DMZ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5671" y="2756098"/>
            <a:ext cx="103745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Какую роль играет зона DMZ (Demilitarized Zone) в модели эшелонированной обороны (Defense in Depth) и почему публичные сервисы (например, веб-серверы) размещают именно там, а не во внутренней сети?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3437334"/>
            <a:ext cx="348844" cy="348853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9616" y="3460601"/>
            <a:ext cx="232563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671" y="3485753"/>
            <a:ext cx="1037454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NAT и безопасность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5671" y="3824784"/>
            <a:ext cx="103745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Каким образом механизм трансляции сетевых адресов (NAT) способствует повышению безопасности корпоративной сети, помимо своей основной функции экономии публичных IP-адресов? Какую концепцию безопасности он реализует?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1475" y="4506020"/>
            <a:ext cx="348844" cy="348853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616" y="4529286"/>
            <a:ext cx="232563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55671" y="4554438"/>
            <a:ext cx="1037454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Функции NGFW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5671" y="4893469"/>
            <a:ext cx="103745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Назовите не менее трех ключевых функций межсетевых экранов нового поколения (NGFW), которые отличают их от классических фаерволов, оперирующих исключительно IP-адресами и номерами портов.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1475" y="5574705"/>
            <a:ext cx="348844" cy="348853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616" y="5597971"/>
            <a:ext cx="232563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55671" y="5623123"/>
            <a:ext cx="1037454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Zero Trust и ограничения периметра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5671" y="5962154"/>
            <a:ext cx="103745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Почему классическая концепция периметровой защиты («замок и ров») считается недостаточной в современных условиях? Назовите три теоретических ограничения периметровых фаерволов и объясните, как парадигма Zero Trust (нулевого доверия) дополняет их работу.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1806</Words>
  <Application>Microsoft Office PowerPoint</Application>
  <PresentationFormat>Широкоэкранный</PresentationFormat>
  <Paragraphs>98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Geist Bold</vt:lpstr>
      <vt:lpstr>Geist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Джамбулат Кагерманов</cp:lastModifiedBy>
  <cp:revision>2</cp:revision>
  <dcterms:created xsi:type="dcterms:W3CDTF">2026-09-20T20:03:04Z</dcterms:created>
  <dcterms:modified xsi:type="dcterms:W3CDTF">2026-09-20T20:05:08Z</dcterms:modified>
</cp:coreProperties>
</file>